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1"/>
  </p:notesMasterIdLst>
  <p:sldIdLst>
    <p:sldId id="256" r:id="rId5"/>
    <p:sldId id="264" r:id="rId6"/>
    <p:sldId id="257" r:id="rId7"/>
    <p:sldId id="274" r:id="rId8"/>
    <p:sldId id="260" r:id="rId9"/>
    <p:sldId id="261" r:id="rId10"/>
    <p:sldId id="273" r:id="rId11"/>
    <p:sldId id="262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6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51"/>
    <p:restoredTop sz="96197"/>
  </p:normalViewPr>
  <p:slideViewPr>
    <p:cSldViewPr snapToGrid="0">
      <p:cViewPr varScale="1">
        <p:scale>
          <a:sx n="74" d="100"/>
          <a:sy n="74" d="100"/>
        </p:scale>
        <p:origin x="3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1349C-D974-488D-9790-F05EB1510E4A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77A21E-1655-48A0-A649-2110868880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1166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abcd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A21E-1655-48A0-A649-21108688803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2055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A21E-1655-48A0-A649-21108688803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3033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abcd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77A21E-1655-48A0-A649-21108688803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787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5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80765E-9E46-F923-4537-881F829F0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b="19027"/>
          <a:stretch/>
        </p:blipFill>
        <p:spPr>
          <a:xfrm>
            <a:off x="-89029" y="88900"/>
            <a:ext cx="6234858" cy="676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AEAD9E-24CC-6878-AB18-EADB79A8DB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1000"/>
          </a:blip>
          <a:srcRect l="35154" b="58161"/>
          <a:stretch/>
        </p:blipFill>
        <p:spPr>
          <a:xfrm>
            <a:off x="0" y="2743003"/>
            <a:ext cx="11725928" cy="4114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649688-59E7-1703-6239-C6E17422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360" y="2582103"/>
            <a:ext cx="5068866" cy="138053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E2DF3-20B9-5FE4-78BC-2A84C112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4360" y="4054718"/>
            <a:ext cx="50688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E67FE4-A40D-2EE9-BF1D-253FA66505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54" t="77958" r="56462"/>
          <a:stretch/>
        </p:blipFill>
        <p:spPr>
          <a:xfrm>
            <a:off x="8858859" y="0"/>
            <a:ext cx="3333141" cy="10308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587E38-3EC4-A044-D625-EEAF1E6EC06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43950" y="974724"/>
            <a:ext cx="4952702" cy="166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857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D8DBDB-5261-D586-111B-F461DB46AA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2222" b="18224"/>
          <a:stretch/>
        </p:blipFill>
        <p:spPr>
          <a:xfrm>
            <a:off x="11070437" y="5676900"/>
            <a:ext cx="1121563" cy="11945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6460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0900" y="1825625"/>
            <a:ext cx="54229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704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097" t="73191" r="26779"/>
          <a:stretch/>
        </p:blipFill>
        <p:spPr>
          <a:xfrm>
            <a:off x="5956300" y="-2875"/>
            <a:ext cx="2400300" cy="75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890886"/>
            <a:ext cx="4686300" cy="1325563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0" y="2489201"/>
            <a:ext cx="4686300" cy="3505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333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B771-CD45-205F-806A-81678839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2503174"/>
            <a:ext cx="4819650" cy="1267453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9AFD-F871-6540-2115-DB916F644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7800" y="3797615"/>
            <a:ext cx="481965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765A9-74CD-CC1E-48E3-3A53C4270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3259" t="9001" r="21570" b="78140"/>
          <a:stretch/>
        </p:blipFill>
        <p:spPr>
          <a:xfrm>
            <a:off x="8681059" y="6256631"/>
            <a:ext cx="3510941" cy="601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D1F781-F4CE-AC60-F115-80945A7AEA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</a:blip>
          <a:srcRect l="6365" r="1479"/>
          <a:stretch/>
        </p:blipFill>
        <p:spPr>
          <a:xfrm>
            <a:off x="-1435100" y="419100"/>
            <a:ext cx="8085811" cy="698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56F55E-839E-3694-5C2F-4668203B2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61300" y="276893"/>
            <a:ext cx="3773552" cy="126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25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DD871-3B5C-C6B1-86B7-BAD5C9E02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15E8F-94C3-DEA7-72D7-43D974A5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3BC0-FF84-DF07-2D03-812433C8C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F68AE-1121-E34D-AB43-7EFA01D82E5E}" type="datetimeFigureOut">
              <a:rPr lang="en-US" smtClean="0"/>
              <a:t>4/24/2025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4D14-8F6B-6828-E58B-9590E68C8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504E-6E70-6ECE-79C3-BCDDE83ED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FE883-4AC6-394B-8129-6E4BB686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1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18982B-9CD7-2F3B-7B40-4913DC6442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82621" y="2237362"/>
            <a:ext cx="11809379" cy="1332689"/>
          </a:xfrm>
        </p:spPr>
        <p:txBody>
          <a:bodyPr>
            <a:normAutofit/>
          </a:bodyPr>
          <a:lstStyle/>
          <a:p>
            <a:r>
              <a:rPr lang="en-US" dirty="0"/>
              <a:t>Simulation and Analysis of Mobile Ad Hoc Networks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65B958-4A47-BEDC-D7B7-4F6EFBE3A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64555" y="4278454"/>
            <a:ext cx="5068866" cy="1655762"/>
          </a:xfrm>
        </p:spPr>
        <p:txBody>
          <a:bodyPr/>
          <a:lstStyle/>
          <a:p>
            <a:r>
              <a:rPr lang="en-US" dirty="0"/>
              <a:t>Sai Abhishek Nemani </a:t>
            </a:r>
            <a:br>
              <a:rPr lang="en-US" dirty="0"/>
            </a:br>
            <a:r>
              <a:rPr lang="en-US" dirty="0"/>
              <a:t>Manoj Panchakarla</a:t>
            </a:r>
            <a:br>
              <a:rPr lang="en-US" dirty="0"/>
            </a:br>
            <a:r>
              <a:rPr lang="en-US" dirty="0"/>
              <a:t>Vamsi Kanuri </a:t>
            </a:r>
          </a:p>
        </p:txBody>
      </p:sp>
    </p:spTree>
    <p:extLst>
      <p:ext uri="{BB962C8B-B14F-4D97-AF65-F5344CB8AC3E}">
        <p14:creationId xmlns:p14="http://schemas.microsoft.com/office/powerpoint/2010/main" val="1765512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4C87CC-F148-B1D7-02D8-96F3AC69F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AFE6EFF-CB6D-C16B-40FE-C91D1DBFA276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8083" y="1825625"/>
            <a:ext cx="9454551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789891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ADE210-04F2-C333-E82F-063748B5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358336" cy="1142662"/>
          </a:xfrm>
        </p:spPr>
        <p:txBody>
          <a:bodyPr/>
          <a:lstStyle/>
          <a:p>
            <a:r>
              <a:rPr lang="en-US" dirty="0"/>
              <a:t>Introduction to MANETs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42DF5A89-8A0D-1708-31C7-C95CDCE349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1990" y="1256152"/>
            <a:ext cx="8986736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22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b="1" dirty="0">
              <a:latin typeface="Inter"/>
            </a:endParaRP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MANETs (Mobile Ad-Hoc Networks) are self-configuring networks of wireless devices that operate without centralized infrastructure. Imagine soldiers coordinating in hostile territory, drones mapping disaster zones, or emergency responders communicating after a hurricane—MANETs enable these critical operations.</a:t>
            </a:r>
          </a:p>
          <a:p>
            <a:pPr marL="457200" lvl="1" indent="0"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2586229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13A7B-D95F-9C9E-A099-E151F4A19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710B4-42BC-8E13-516B-F2CB762DD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When we are dealing with the simulation we need to deal with unpredictable node movement, energy constraints, and constantly shifting topologies.</a:t>
            </a:r>
          </a:p>
          <a:p>
            <a:endParaRPr lang="en-US" dirty="0"/>
          </a:p>
          <a:p>
            <a:r>
              <a:rPr lang="en-US" dirty="0"/>
              <a:t>Traditional simulations are too complex (like NS-3).</a:t>
            </a:r>
          </a:p>
          <a:p>
            <a:endParaRPr lang="en-US" dirty="0"/>
          </a:p>
          <a:p>
            <a:r>
              <a:rPr lang="en-US" dirty="0"/>
              <a:t>My goal: Bridge the gap with an intuitive, visual simulator that leverages AI/ML to evaluate performance in real time.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6438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48268A-F2AD-2687-8F75-08F67227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C06A9-7B59-7031-8F5E-C0CE8435F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Overview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D8A87EA-0B62-2116-A45E-66E5856D6E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54931" y="1296108"/>
            <a:ext cx="9988685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200" dirty="0">
              <a:latin typeface="Inte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2600" b="1" dirty="0">
                <a:latin typeface="Inter"/>
              </a:rPr>
              <a:t>System Architecture</a:t>
            </a: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b="1" dirty="0">
              <a:latin typeface="Inter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en-US" sz="2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Our platform offers: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en-US" sz="2600" b="1" dirty="0">
              <a:latin typeface="Inter"/>
            </a:endParaRP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Real-Time Visualization of nodes, connections, and packet routing.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Dynamic Protocol Analysis (AODV, DSDV, OLSR)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AI-Powered Insights for anomaly detection and predictive routing.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Energy Efficiency Tracking and scalability metrics.</a:t>
            </a:r>
          </a:p>
          <a:p>
            <a:pPr lvl="1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Scenario Testing (network partitioning, node clustering)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22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089269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9E6499-5A25-77E5-31ED-FC76D90FE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24564-E850-BF9C-5EB3-EEFDABE93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Technical Deep Dive And Implementation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4792970-6D15-9932-E2D0-CAE1C62A76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8332" y="2174804"/>
            <a:ext cx="833660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8DD4A-4741-B581-E0C0-4E71AAE443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552" y="1460540"/>
            <a:ext cx="11400110" cy="5032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27510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28549-C401-AB15-F44C-6B1DB69C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2F4FCA-2F6A-53FB-2512-435DD5499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Protocols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ACC0A18A-862F-B74F-D4ED-275E1CE54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085549" y="1825625"/>
            <a:ext cx="8020901" cy="435133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953605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D7A5A-88AD-B525-FB99-10511E781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10831-013F-51B5-F650-CE13F075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Node Behavior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45FF1E0-C399-977D-26AA-201344A0AC1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1814303"/>
            <a:ext cx="10056779" cy="25822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Inter"/>
              </a:rPr>
              <a:t>Each node:</a:t>
            </a:r>
          </a:p>
          <a:p>
            <a:pPr marL="0" indent="0">
              <a:buNone/>
            </a:pPr>
            <a:endParaRPr lang="en-US" b="1" dirty="0">
              <a:latin typeface="Inter"/>
            </a:endParaRP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Inter"/>
              </a:rPr>
              <a:t>Moves randomly (toggleable)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Inter"/>
              </a:rPr>
              <a:t>Consumes energy during transmission/movement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Inter"/>
              </a:rPr>
              <a:t>Maintains neighbor lists based on signal strength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en-US" dirty="0">
                <a:latin typeface="Inter"/>
              </a:rPr>
              <a:t>Tracks packets handled (source, relay, destination roles)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81802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2FB4-C626-672F-BD6C-53E8D71D3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5A054C-7574-6FC9-D8AA-F4744AF1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AI Integration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29B3EFF-2CFD-F770-F412-BFEC97CE605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1680165"/>
            <a:ext cx="10056779" cy="28505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Inter"/>
              </a:rPr>
              <a:t>Predictive Routing: </a:t>
            </a:r>
          </a:p>
          <a:p>
            <a:pPr marL="457200" lvl="1" indent="0">
              <a:buNone/>
            </a:pPr>
            <a:r>
              <a:rPr lang="en-US" dirty="0">
                <a:latin typeface="Inter"/>
              </a:rPr>
              <a:t>Neural network forecasts optimal paths using node density, speed, and connectivity data.</a:t>
            </a:r>
          </a:p>
          <a:p>
            <a:pPr marL="457200" lvl="1" indent="0">
              <a:buNone/>
            </a:pPr>
            <a:endParaRPr lang="en-US" dirty="0">
              <a:latin typeface="Inter"/>
            </a:endParaRPr>
          </a:p>
          <a:p>
            <a:pPr marL="0" indent="0">
              <a:buNone/>
            </a:pPr>
            <a:r>
              <a:rPr lang="en-US" b="1" dirty="0">
                <a:latin typeface="Inter"/>
              </a:rPr>
              <a:t>Anomaly Detection: </a:t>
            </a:r>
          </a:p>
          <a:p>
            <a:pPr marL="457200" lvl="1" indent="0">
              <a:buNone/>
            </a:pPr>
            <a:r>
              <a:rPr lang="en-US" dirty="0">
                <a:latin typeface="Inter"/>
              </a:rPr>
              <a:t>Autoencoder model flags unusual node behavior (e.g., sudden stops, erratic movement)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569831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8902DB-6C6D-E438-76ED-504A7F5D4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6BFAA9-49EB-F2CD-1129-034CB87167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Use Cases &amp; Applications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CF8F9497-D349-ECDC-746E-4111BE44BFF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1645610"/>
            <a:ext cx="10679349" cy="33198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endParaRPr lang="en-US" b="1" dirty="0">
              <a:latin typeface="Inter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Inter"/>
              </a:rPr>
              <a:t>Disaster Response: </a:t>
            </a:r>
            <a:r>
              <a:rPr lang="en-US" dirty="0">
                <a:latin typeface="Inter"/>
              </a:rPr>
              <a:t>Simulate drone networks for search-and-rescue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Inter"/>
              </a:rPr>
              <a:t>Military Operations: </a:t>
            </a:r>
            <a:r>
              <a:rPr lang="en-US" dirty="0">
                <a:latin typeface="Inter"/>
              </a:rPr>
              <a:t>Test battlefield communication resilience IoT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Inter"/>
              </a:rPr>
              <a:t>Deployments: </a:t>
            </a:r>
            <a:r>
              <a:rPr lang="en-US" dirty="0">
                <a:latin typeface="Inter"/>
              </a:rPr>
              <a:t>Optimize sensor networks in smart cities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b="1" dirty="0">
                <a:latin typeface="Inter"/>
              </a:rPr>
              <a:t>Research &amp; Education: </a:t>
            </a:r>
            <a:r>
              <a:rPr lang="en-US" dirty="0">
                <a:latin typeface="Inter"/>
              </a:rPr>
              <a:t>Teach network concepts visually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775254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776F2D-1D45-C411-0C1D-65F9D3B50B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3B2052-FF15-3D13-4174-35D0DDC5C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Live Demo Walkthrough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0538A0DC-C68E-D4BF-0927-5233F9F1269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1698456"/>
            <a:ext cx="10679349" cy="47746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Inter"/>
              </a:rPr>
              <a:t>Demo Interface</a:t>
            </a:r>
          </a:p>
          <a:p>
            <a:pPr marL="0" indent="0">
              <a:buNone/>
            </a:pPr>
            <a:endParaRPr lang="en-US" b="1" dirty="0">
              <a:latin typeface="Inter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Adjust Parameters: </a:t>
            </a:r>
            <a:r>
              <a:rPr lang="en-US" sz="2600" dirty="0">
                <a:latin typeface="Inter"/>
              </a:rPr>
              <a:t>Node count, speed, transmission range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Visualize Connections: </a:t>
            </a:r>
            <a:r>
              <a:rPr lang="en-US" sz="2600" dirty="0">
                <a:latin typeface="Inter"/>
              </a:rPr>
              <a:t>Toggle link visibility and signal strength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Routing Protocols: </a:t>
            </a:r>
            <a:r>
              <a:rPr lang="en-US" sz="2600" dirty="0">
                <a:latin typeface="Inter"/>
              </a:rPr>
              <a:t>Compare AODV (adaptive) vs. DSDV (table-driven)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AI Insights: </a:t>
            </a:r>
            <a:r>
              <a:rPr lang="en-US" sz="2600" dirty="0">
                <a:latin typeface="Inter"/>
              </a:rPr>
              <a:t>Watch anomaly alerts and stability scores update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Scenario Testing: </a:t>
            </a:r>
            <a:r>
              <a:rPr lang="en-US" sz="2600" dirty="0">
                <a:latin typeface="Inter"/>
              </a:rPr>
              <a:t>Create partitions or clusters to stress-test the network</a:t>
            </a:r>
          </a:p>
          <a:p>
            <a:pPr marL="0" indent="0">
              <a:buNone/>
            </a:pPr>
            <a:endParaRPr lang="en-US" sz="2600" b="1" dirty="0">
              <a:latin typeface="Inter"/>
            </a:endParaRPr>
          </a:p>
          <a:p>
            <a:pPr marL="0" indent="0">
              <a:buNone/>
            </a:pPr>
            <a:r>
              <a:rPr lang="en-US" sz="2600" b="1" dirty="0">
                <a:latin typeface="Inter"/>
              </a:rPr>
              <a:t>Example: </a:t>
            </a:r>
            <a:r>
              <a:rPr lang="en-US" sz="2600" dirty="0">
                <a:latin typeface="Inter"/>
              </a:rPr>
              <a:t>With 100 nodes at 2.5x speed, observe how OLSR handles rapid topology changes versus AODV.</a:t>
            </a: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19046887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669927-3623-A437-66C8-DEB460594F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451852-35CB-569D-E561-7D1BF15A2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Results &amp; Findings 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FB1F0ECD-55CC-9C7F-A975-6E5CB265A6B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2100372"/>
            <a:ext cx="10679349" cy="31536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b="1" dirty="0">
                <a:latin typeface="Inter"/>
              </a:rPr>
              <a:t>Performance Metrics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Routing Success Rate: </a:t>
            </a:r>
            <a:r>
              <a:rPr lang="en-US" sz="2600" dirty="0">
                <a:latin typeface="Inter"/>
              </a:rPr>
              <a:t>AODV outperforms DSDV in high-mobility scenarios (92% vs. 78%)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Energy Efficiency: </a:t>
            </a:r>
            <a:r>
              <a:rPr lang="en-US" sz="2600" dirty="0">
                <a:latin typeface="Inter"/>
              </a:rPr>
              <a:t>Predictive AI reduces consumption by 30%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Scalability: </a:t>
            </a:r>
            <a:r>
              <a:rPr lang="en-US" sz="2600" dirty="0">
                <a:latin typeface="Inter"/>
              </a:rPr>
              <a:t>Network performance degrades gracefully up to 400 nodes.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600" b="1" dirty="0">
                <a:latin typeface="Inter"/>
              </a:rPr>
              <a:t>Anomaly Detection: </a:t>
            </a:r>
            <a:r>
              <a:rPr lang="en-US" sz="2600" dirty="0">
                <a:latin typeface="Inter"/>
              </a:rPr>
              <a:t>89% accuracy in identifying faulty nodes.</a:t>
            </a: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9892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AB268-5C17-E1E2-F76D-04FC509EBB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D9162-07F8-8B8F-5A43-A47A1A9F8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A14B07F-D9B4-9D31-E084-56B7AD0DED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2211172"/>
            <a:ext cx="10679349" cy="2932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b="1" dirty="0">
                <a:latin typeface="Inter"/>
              </a:rPr>
              <a:t>Challenge: </a:t>
            </a:r>
            <a:r>
              <a:rPr lang="en-US" dirty="0">
                <a:latin typeface="Inter"/>
              </a:rPr>
              <a:t>Balancing simulation accuracy with browser performance.</a:t>
            </a:r>
          </a:p>
          <a:p>
            <a:pPr marL="0" indent="0" algn="just">
              <a:buNone/>
            </a:pPr>
            <a:r>
              <a:rPr lang="en-US" b="1" dirty="0">
                <a:latin typeface="Inter"/>
              </a:rPr>
              <a:t>Solution: </a:t>
            </a:r>
            <a:r>
              <a:rPr lang="en-US" dirty="0">
                <a:latin typeface="Inter"/>
              </a:rPr>
              <a:t>Optimized frame rendering and Web Workers for background AI tasks.</a:t>
            </a:r>
          </a:p>
          <a:p>
            <a:pPr marL="0" indent="0" algn="just">
              <a:buNone/>
            </a:pPr>
            <a:endParaRPr lang="en-US" b="1" dirty="0">
              <a:latin typeface="Inter"/>
            </a:endParaRPr>
          </a:p>
          <a:p>
            <a:pPr marL="0" indent="0" algn="just">
              <a:buNone/>
            </a:pPr>
            <a:r>
              <a:rPr lang="en-US" b="1" dirty="0">
                <a:latin typeface="Inter"/>
              </a:rPr>
              <a:t>Challenge: </a:t>
            </a:r>
            <a:r>
              <a:rPr lang="en-US" dirty="0">
                <a:latin typeface="Inter"/>
              </a:rPr>
              <a:t>Training lightweight ML models for real-time use.</a:t>
            </a:r>
          </a:p>
          <a:p>
            <a:pPr marL="0" indent="0" algn="just">
              <a:buNone/>
            </a:pPr>
            <a:r>
              <a:rPr lang="en-US" b="1" dirty="0">
                <a:latin typeface="Inter"/>
              </a:rPr>
              <a:t>Solution: </a:t>
            </a:r>
            <a:r>
              <a:rPr lang="en-US" dirty="0">
                <a:latin typeface="Inter"/>
              </a:rPr>
              <a:t>Quantized TensorFlow.js models with minimal latency.</a:t>
            </a: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8406704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DC5D5-DCEF-0AB5-B91F-9D6209B023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0F401-4EBE-6183-3572-4EB67C5388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Future Enhancements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7739BCFF-BC94-612D-64DA-49697C12830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1972135"/>
            <a:ext cx="10679349" cy="341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lang="en-US" b="1" dirty="0">
                <a:latin typeface="Inter"/>
              </a:rPr>
              <a:t>Roadmap</a:t>
            </a:r>
          </a:p>
          <a:p>
            <a:pPr marL="0" indent="0" algn="just">
              <a:buNone/>
            </a:pPr>
            <a:endParaRPr kumimoji="0" lang="en-US" altLang="en-US" sz="2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Inter"/>
              </a:rPr>
              <a:t>Add 5G/NR integration for modern MANETs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Inter"/>
              </a:rPr>
              <a:t>Implement 3D visualization for aerial networks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Inter"/>
              </a:rPr>
              <a:t>Expand AI to predict node failures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altLang="en-US" sz="2600" dirty="0">
                <a:latin typeface="Inter"/>
              </a:rPr>
              <a:t>Develop collaborative analysis tools for multi-user scenarios</a:t>
            </a:r>
          </a:p>
          <a:p>
            <a:pPr marL="0" indent="0" algn="just">
              <a:buNone/>
            </a:pPr>
            <a:endParaRPr kumimoji="0" lang="en-US" altLang="en-US" sz="2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42199129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234D5-E275-3DF4-CCF3-A4ED70573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E76B4-1193-8A6A-8B4E-ED33AA71B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5204" y="326214"/>
            <a:ext cx="10515600" cy="1325563"/>
          </a:xfrm>
        </p:spPr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8C443D8B-AC1A-55B3-7475-9005FF1A11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5204" y="2148569"/>
            <a:ext cx="10679349" cy="22790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buNone/>
            </a:pPr>
            <a:r>
              <a:rPr kumimoji="0" lang="en-US" altLang="en-US" sz="2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This platform bridges the gap between theoretical MANET research and practical deployment. By combining real-time visualization with AI-driven analytics, we empower network engineers to: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Test configurations risk-free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Optimize energy use</a:t>
            </a:r>
          </a:p>
          <a:p>
            <a:pPr lvl="1" algn="just">
              <a:buFont typeface="Wingdings" panose="05000000000000000000" pitchFamily="2" charset="2"/>
              <a:buChar char="Ø"/>
            </a:pPr>
            <a:r>
              <a:rPr kumimoji="0" lang="en-US" altLang="en-US" sz="22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Inter"/>
              </a:rPr>
              <a:t>Prepare for edge cases</a:t>
            </a:r>
          </a:p>
        </p:txBody>
      </p:sp>
    </p:spTree>
    <p:extLst>
      <p:ext uri="{BB962C8B-B14F-4D97-AF65-F5344CB8AC3E}">
        <p14:creationId xmlns:p14="http://schemas.microsoft.com/office/powerpoint/2010/main" val="4160737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1A11CF9-E3CC-59FF-C63B-E7D141B63B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360" y="2582103"/>
            <a:ext cx="5068866" cy="1380539"/>
          </a:xfrm>
        </p:spPr>
        <p:txBody>
          <a:bodyPr anchor="b">
            <a:normAutofit/>
          </a:bodyPr>
          <a:lstStyle/>
          <a:p>
            <a:r>
              <a:rPr lang="en-US" dirty="0"/>
              <a:t>Thankyou.</a:t>
            </a:r>
          </a:p>
        </p:txBody>
      </p:sp>
    </p:spTree>
    <p:extLst>
      <p:ext uri="{BB962C8B-B14F-4D97-AF65-F5344CB8AC3E}">
        <p14:creationId xmlns:p14="http://schemas.microsoft.com/office/powerpoint/2010/main" val="120933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4 Mason">
      <a:dk1>
        <a:srgbClr val="000000"/>
      </a:dk1>
      <a:lt1>
        <a:srgbClr val="FFFFFF"/>
      </a:lt1>
      <a:dk2>
        <a:srgbClr val="333333"/>
      </a:dk2>
      <a:lt2>
        <a:srgbClr val="E7E6E6"/>
      </a:lt2>
      <a:accent1>
        <a:srgbClr val="005138"/>
      </a:accent1>
      <a:accent2>
        <a:srgbClr val="FFC733"/>
      </a:accent2>
      <a:accent3>
        <a:srgbClr val="CF4520"/>
      </a:accent3>
      <a:accent4>
        <a:srgbClr val="067681"/>
      </a:accent4>
      <a:accent5>
        <a:srgbClr val="326195"/>
      </a:accent5>
      <a:accent6>
        <a:srgbClr val="796E65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BEF54C2EDBAD42ABA6D2B17A8AA352" ma:contentTypeVersion="14" ma:contentTypeDescription="Create a new document." ma:contentTypeScope="" ma:versionID="68be0631f34a19f4cd5c2da365b65fa3">
  <xsd:schema xmlns:xsd="http://www.w3.org/2001/XMLSchema" xmlns:xs="http://www.w3.org/2001/XMLSchema" xmlns:p="http://schemas.microsoft.com/office/2006/metadata/properties" xmlns:ns2="173a88a8-236d-40ce-a9c8-0f7af89cbc1d" xmlns:ns3="fe368638-d043-443b-91e9-0ae6fcf61500" targetNamespace="http://schemas.microsoft.com/office/2006/metadata/properties" ma:root="true" ma:fieldsID="d6d9b43eb6c405d88ad37f2b0ea7e8c7" ns2:_="" ns3:_="">
    <xsd:import namespace="173a88a8-236d-40ce-a9c8-0f7af89cbc1d"/>
    <xsd:import namespace="fe368638-d043-443b-91e9-0ae6fcf6150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a88a8-236d-40ce-a9c8-0f7af89cbc1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6c1bbba-1a2d-496b-84ee-32d9150662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368638-d043-443b-91e9-0ae6fcf6150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1c242fd-dbac-46b9-8e88-916e6c97b230}" ma:internalName="TaxCatchAll" ma:showField="CatchAllData" ma:web="fe368638-d043-443b-91e9-0ae6fcf615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368638-d043-443b-91e9-0ae6fcf61500" xsi:nil="true"/>
    <lcf76f155ced4ddcb4097134ff3c332f xmlns="173a88a8-236d-40ce-a9c8-0f7af89cbc1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750823-6208-4BFF-96DA-C7C4CA3DF7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73a88a8-236d-40ce-a9c8-0f7af89cbc1d"/>
    <ds:schemaRef ds:uri="fe368638-d043-443b-91e9-0ae6fcf6150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C238F92-D426-4BEE-805A-F80178872645}">
  <ds:schemaRefs>
    <ds:schemaRef ds:uri="http://www.w3.org/XML/1998/namespace"/>
    <ds:schemaRef ds:uri="http://purl.org/dc/dcmitype/"/>
    <ds:schemaRef ds:uri="http://purl.org/dc/terms/"/>
    <ds:schemaRef ds:uri="http://schemas.microsoft.com/office/infopath/2007/PartnerControls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fe368638-d043-443b-91e9-0ae6fcf61500"/>
    <ds:schemaRef ds:uri="173a88a8-236d-40ce-a9c8-0f7af89cbc1d"/>
  </ds:schemaRefs>
</ds:datastoreItem>
</file>

<file path=customXml/itemProps3.xml><?xml version="1.0" encoding="utf-8"?>
<ds:datastoreItem xmlns:ds="http://schemas.openxmlformats.org/officeDocument/2006/customXml" ds:itemID="{B1E4B866-3963-435A-98E6-72B22C6A86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564</TotalTime>
  <Words>548</Words>
  <Application>Microsoft Office PowerPoint</Application>
  <PresentationFormat>Widescreen</PresentationFormat>
  <Paragraphs>85</Paragraphs>
  <Slides>16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Arial</vt:lpstr>
      <vt:lpstr>Franklin Gothic Book</vt:lpstr>
      <vt:lpstr>Franklin Gothic Medium</vt:lpstr>
      <vt:lpstr>Inter</vt:lpstr>
      <vt:lpstr>Wingdings</vt:lpstr>
      <vt:lpstr>Office Theme</vt:lpstr>
      <vt:lpstr>Simulation and Analysis of Mobile Ad Hoc Networks </vt:lpstr>
      <vt:lpstr>Introduction</vt:lpstr>
      <vt:lpstr>Introduction to MANETs</vt:lpstr>
      <vt:lpstr>Problem Statement </vt:lpstr>
      <vt:lpstr>Project Overview</vt:lpstr>
      <vt:lpstr>Technical Deep Dive And Implementation</vt:lpstr>
      <vt:lpstr>Protocols</vt:lpstr>
      <vt:lpstr>Node Behavior</vt:lpstr>
      <vt:lpstr>AI Integration</vt:lpstr>
      <vt:lpstr>Use Cases &amp; Applications</vt:lpstr>
      <vt:lpstr>Live Demo Walkthrough</vt:lpstr>
      <vt:lpstr>Results &amp; Findings </vt:lpstr>
      <vt:lpstr>Challenges &amp; Solutions</vt:lpstr>
      <vt:lpstr>Future Enhancements</vt:lpstr>
      <vt:lpstr>Conclusion</vt:lpstr>
      <vt:lpstr>Thankyou.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Brandt</dc:creator>
  <cp:lastModifiedBy>Ravi Murthy</cp:lastModifiedBy>
  <cp:revision>17</cp:revision>
  <dcterms:created xsi:type="dcterms:W3CDTF">2024-04-18T20:24:44Z</dcterms:created>
  <dcterms:modified xsi:type="dcterms:W3CDTF">2025-04-24T22:36:37Z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0x01010063BEF54C2EDBAD42ABA6D2B17A8AA352</vt:lpwstr>
  </property>
  <property fmtid="{D5CDD505-2E9C-101B-9397-08002B2CF9AE}" pid="3" name="MediaServiceImageTags">
    <vt:lpwstr/>
  </property>
</Properties>
</file>